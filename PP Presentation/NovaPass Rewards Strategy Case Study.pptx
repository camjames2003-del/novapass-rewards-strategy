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DM Sans Medium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Urbanist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DM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DMSansMedium-bold.fntdata"/><Relationship Id="rId14" Type="http://schemas.openxmlformats.org/officeDocument/2006/relationships/font" Target="fonts/DMSansMedium-regular.fntdata"/><Relationship Id="rId17" Type="http://schemas.openxmlformats.org/officeDocument/2006/relationships/font" Target="fonts/DMSansMedium-boldItalic.fntdata"/><Relationship Id="rId16" Type="http://schemas.openxmlformats.org/officeDocument/2006/relationships/font" Target="fonts/DMSansMedium-italic.fntdata"/><Relationship Id="rId19" Type="http://schemas.openxmlformats.org/officeDocument/2006/relationships/font" Target="fonts/Urbanist-bold.fntdata"/><Relationship Id="rId18" Type="http://schemas.openxmlformats.org/officeDocument/2006/relationships/font" Target="fonts/Urbanis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ee1a3229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cee1a3229d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ee1a3229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cee1a3229d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ee1a3229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cee1a3229d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10" Type="http://schemas.openxmlformats.org/officeDocument/2006/relationships/image" Target="../media/image2.png"/><Relationship Id="rId9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687050" y="314325"/>
            <a:ext cx="134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NovaBank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95287" y="814536"/>
            <a:ext cx="114014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6B8A8"/>
                </a:solidFill>
                <a:latin typeface="Urbanist"/>
                <a:ea typeface="Urbanist"/>
                <a:cs typeface="Urbanist"/>
                <a:sym typeface="Urbanist"/>
              </a:rPr>
              <a:t>STRATEGIC DATA ANALYSIS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95287" y="1224111"/>
            <a:ext cx="11401425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NovaPass Rewards Strategy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2216497"/>
            <a:ext cx="7620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Defining the future of premium banking rewards in Latin America through data-driven insight.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3185963"/>
            <a:ext cx="5715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687050" y="285750"/>
            <a:ext cx="1028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324D"/>
                </a:solidFill>
                <a:latin typeface="DM Sans"/>
                <a:ea typeface="DM Sans"/>
                <a:cs typeface="DM Sans"/>
                <a:sym typeface="DM Sans"/>
              </a:rPr>
              <a:t>NovaBank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47625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66750" y="476250"/>
            <a:ext cx="76200" cy="504825"/>
          </a:xfrm>
          <a:prstGeom prst="rect">
            <a:avLst/>
          </a:prstGeom>
          <a:solidFill>
            <a:srgbClr val="26B8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00225"/>
            <a:ext cx="519112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32225" y="1421760"/>
            <a:ext cx="545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The Business Problem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32225" y="1722910"/>
            <a:ext cx="5191200" cy="16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NovaBank’s current flat 1.5x rewards model is uncompetitive and fails to optimize profit margins across diverse spending categories. Transitioning to a dynamic tiering system is essential to capture high-value market segments and protect the bank's profitability.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" y="3620392"/>
            <a:ext cx="54506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The Business Question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4087117"/>
            <a:ext cx="5000700" cy="22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50">
                <a:solidFill>
                  <a:srgbClr val="0D324D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“What specific spending tiers and merchant categories will maximize customer engagement while maintaining sustainable revenue for the NovaPass card?”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66750" y="4087117"/>
            <a:ext cx="38100" cy="1584721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5078462"/>
            <a:ext cx="108585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3586906"/>
            <a:ext cx="15557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3200" y="3586906"/>
            <a:ext cx="15557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69400" y="3586906"/>
            <a:ext cx="155570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0687050" y="285750"/>
            <a:ext cx="1028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324D"/>
                </a:solidFill>
                <a:latin typeface="DM Sans"/>
                <a:ea typeface="DM Sans"/>
                <a:cs typeface="DM Sans"/>
                <a:sym typeface="DM Sans"/>
              </a:rPr>
              <a:t>NovaBank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47625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Insights &amp; Strategic Solution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666750" y="476250"/>
            <a:ext cx="76200" cy="504825"/>
          </a:xfrm>
          <a:prstGeom prst="rect">
            <a:avLst/>
          </a:prstGeom>
          <a:solidFill>
            <a:srgbClr val="26B8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889559" y="5278487"/>
            <a:ext cx="335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Total</a:t>
            </a:r>
            <a:r>
              <a:rPr b="0" i="0" lang="en-US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Revenue</a:t>
            </a:r>
            <a:r>
              <a:rPr lang="en-US"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$1.16M</a:t>
            </a:r>
            <a:endParaRPr sz="1600"/>
          </a:p>
        </p:txBody>
      </p:sp>
      <p:sp>
        <p:nvSpPr>
          <p:cNvPr id="117" name="Google Shape;117;p15"/>
          <p:cNvSpPr txBox="1"/>
          <p:nvPr/>
        </p:nvSpPr>
        <p:spPr>
          <a:xfrm>
            <a:off x="4416474" y="5278487"/>
            <a:ext cx="335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Total </a:t>
            </a:r>
            <a:r>
              <a:rPr b="0" i="0" lang="en-US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Transactions </a:t>
            </a:r>
            <a:r>
              <a:rPr b="1" i="0" lang="en-US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9,646</a:t>
            </a:r>
            <a:endParaRPr sz="1600"/>
          </a:p>
        </p:txBody>
      </p:sp>
      <p:sp>
        <p:nvSpPr>
          <p:cNvPr id="118" name="Google Shape;118;p15"/>
          <p:cNvSpPr txBox="1"/>
          <p:nvPr/>
        </p:nvSpPr>
        <p:spPr>
          <a:xfrm>
            <a:off x="7966174" y="5278487"/>
            <a:ext cx="335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DM Sans"/>
                <a:ea typeface="DM Sans"/>
                <a:cs typeface="DM Sans"/>
                <a:sym typeface="DM Sans"/>
              </a:rPr>
              <a:t>Average</a:t>
            </a:r>
            <a:r>
              <a:rPr lang="en-US">
                <a:latin typeface="DM Sans"/>
                <a:ea typeface="DM Sans"/>
                <a:cs typeface="DM Sans"/>
                <a:sym typeface="DM Sans"/>
              </a:rPr>
              <a:t> Transaction </a:t>
            </a:r>
            <a:r>
              <a:rPr b="1" i="0" lang="en-US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$120.83</a:t>
            </a:r>
            <a:endParaRPr sz="1600"/>
          </a:p>
        </p:txBody>
      </p:sp>
      <p:sp>
        <p:nvSpPr>
          <p:cNvPr id="119" name="Google Shape;119;p15"/>
          <p:cNvSpPr txBox="1"/>
          <p:nvPr/>
        </p:nvSpPr>
        <p:spPr>
          <a:xfrm>
            <a:off x="666750" y="1922412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Key Analytical Findings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477000" y="2032694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The "NovaPass" Solution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477000" y="2432744"/>
            <a:ext cx="50482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Implement a 3-tier dynamic multiplier system focused on capturing the travel corridor while stabilizing margins on domestic swipes.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38225" y="2293887"/>
            <a:ext cx="46767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83% of total revenue is tied to international travel spending.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38225" y="3063329"/>
            <a:ext cx="46767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79% of revenue is driven by "High" and "Premium" spend brackets (&gt;$100).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95375" y="3832770"/>
            <a:ext cx="46196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Travel categories (Flights/Hotels) represent the primary revenue pillar.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" y="23224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750" y="309190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6750" y="3861345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68897"/>
            <a:ext cx="5191125" cy="286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0687050" y="285750"/>
            <a:ext cx="1028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324D"/>
                </a:solidFill>
                <a:latin typeface="DM Sans"/>
                <a:ea typeface="DM Sans"/>
                <a:cs typeface="DM Sans"/>
                <a:sym typeface="DM Sans"/>
              </a:rPr>
              <a:t>NovaBank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7250" y="476250"/>
            <a:ext cx="112014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Methodology &amp; Data Prep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666750" y="476250"/>
            <a:ext cx="76200" cy="504825"/>
          </a:xfrm>
          <a:prstGeom prst="rect">
            <a:avLst/>
          </a:prstGeom>
          <a:solidFill>
            <a:srgbClr val="26B8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619875" y="2654647"/>
            <a:ext cx="485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Main </a:t>
            </a: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Cleaning </a:t>
            </a:r>
            <a:r>
              <a:rPr b="1" lang="en-US" sz="1404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Step</a:t>
            </a: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19875" y="3026122"/>
            <a:ext cx="46196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Step 1: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Standardized "Clean Category" using SQL CASE logic to unify merchant naming conventions.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19875" y="3666083"/>
            <a:ext cx="46196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Step 2: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Handled null values in "Age" by imputing median cohorts to maintain demographic integrity.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19875" y="4306044"/>
            <a:ext cx="46196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Step 3: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Converted and normalized all local currencies to USD for unified revenue comparison.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66750" y="2020490"/>
            <a:ext cx="54506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The Dataset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6750" y="2420540"/>
            <a:ext cx="519112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Processed 9,646 anonymized transaction records from the NovaBank core database, specifically isolating Latin American resident behaviors.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66750" y="3574702"/>
            <a:ext cx="54506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Analysis Assumptions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66750" y="3946177"/>
            <a:ext cx="51911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Mapped Residency: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Transactions in cities outside residency country are treated as "International."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66750" y="4715619"/>
            <a:ext cx="51911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Fixed Tiers: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Merchant categories are grouped based on industry habit (e.g., Grocery as Daily Habit).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10687050" y="285750"/>
            <a:ext cx="102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324D"/>
                </a:solidFill>
                <a:latin typeface="DM Sans"/>
                <a:ea typeface="DM Sans"/>
                <a:cs typeface="DM Sans"/>
                <a:sym typeface="DM Sans"/>
              </a:rPr>
              <a:t>NovaBank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57250" y="47625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00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International Spend Dominates Portfolio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666750" y="476250"/>
            <a:ext cx="76200" cy="504900"/>
          </a:xfrm>
          <a:prstGeom prst="rect">
            <a:avLst/>
          </a:prstGeom>
          <a:solidFill>
            <a:srgbClr val="26B8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7" title="Screenshot 2026-03-11 at 14.45.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2350" y="1557775"/>
            <a:ext cx="4576450" cy="437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6572250" y="2234803"/>
            <a:ext cx="52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The Steps To Conclusion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572250" y="2634853"/>
            <a:ext cx="4953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1. Segmentation: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We compared the 'Country of Residence' vs. the 'Transaction City' to flag cross-border movement.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572250" y="3394769"/>
            <a:ext cx="4953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2. Aggregation: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Visualizing the split revealed a de facto "Travel Identity" for NovaBank users.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572250" y="4154685"/>
            <a:ext cx="49530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3. Result: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83% of our users are already high-frequency international travelers, making a global rewards benefit the #1 acquisition lever.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192338" y="1396075"/>
            <a:ext cx="441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CHART ANALYSIS: TRANSACTION VOLUME BY LOCATION TYPE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10687050" y="285750"/>
            <a:ext cx="102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324D"/>
                </a:solidFill>
                <a:latin typeface="DM Sans"/>
                <a:ea typeface="DM Sans"/>
                <a:cs typeface="DM Sans"/>
                <a:sym typeface="DM Sans"/>
              </a:rPr>
              <a:t>NovaBank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666750" y="476250"/>
            <a:ext cx="76200" cy="504900"/>
          </a:xfrm>
          <a:prstGeom prst="rect">
            <a:avLst/>
          </a:prstGeom>
          <a:solidFill>
            <a:srgbClr val="26B8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8" title="Screenshot 2026-03-11 at 14.45.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025" y="1659600"/>
            <a:ext cx="7923050" cy="48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57250" y="47625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High-Value Purchases Drive Revenue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659100" y="1659600"/>
            <a:ext cx="33996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The Steps:</a:t>
            </a:r>
            <a:r>
              <a:rPr b="0" i="0" lang="en-US" sz="17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Binned transactions into spend tiers to find the </a:t>
            </a:r>
            <a:r>
              <a:rPr lang="en-US" sz="17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most efficient spot</a:t>
            </a:r>
            <a:r>
              <a:rPr b="0" i="0" lang="en-US" sz="17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i="0" sz="1700" u="none" cap="none" strike="noStrike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Result:</a:t>
            </a:r>
            <a:r>
              <a:rPr b="0" i="0" lang="en-US" sz="17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While swipes are highest in 'Medium', revenue is concentrated in 'High' and 'Premium', justifying higher multipliers for $100+ spends.</a:t>
            </a:r>
            <a:endParaRPr sz="1900"/>
          </a:p>
        </p:txBody>
      </p:sp>
      <p:sp>
        <p:nvSpPr>
          <p:cNvPr id="170" name="Google Shape;170;p18"/>
          <p:cNvSpPr txBox="1"/>
          <p:nvPr/>
        </p:nvSpPr>
        <p:spPr>
          <a:xfrm>
            <a:off x="742950" y="1241025"/>
            <a:ext cx="446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CHART ANALYSIS: REVENUE DISTRIBUTION VS. SWIPE VOLUME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10687050" y="285750"/>
            <a:ext cx="102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324D"/>
                </a:solidFill>
                <a:latin typeface="DM Sans"/>
                <a:ea typeface="DM Sans"/>
                <a:cs typeface="DM Sans"/>
                <a:sym typeface="DM Sans"/>
              </a:rPr>
              <a:t>NovaBank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666750" y="476250"/>
            <a:ext cx="76200" cy="504900"/>
          </a:xfrm>
          <a:prstGeom prst="rect">
            <a:avLst/>
          </a:prstGeom>
          <a:solidFill>
            <a:srgbClr val="26B8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9" title="Screenshot 2026-03-11 at 14.46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25" y="1563825"/>
            <a:ext cx="11749526" cy="330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857250" y="476250"/>
            <a:ext cx="1120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Tiered Roadmap for Strategic Yield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66750" y="1219200"/>
            <a:ext cx="4200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CHART ANALYSIS: TOTAL SPEND BY MERCHANT CATEGORY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90550" y="5173800"/>
            <a:ext cx="11391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Conclusion Path: </a:t>
            </a:r>
            <a:r>
              <a:rPr lang="en-US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Aggregated revenue by industry. We assigned ‘3x’ to the pillars that define travel identity, and ‘2x’ to habit-forming spend (Groceries) to stay “top of wallet”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10687050" y="285750"/>
            <a:ext cx="1028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D324D"/>
                </a:solidFill>
                <a:latin typeface="DM Sans"/>
                <a:ea typeface="DM Sans"/>
                <a:cs typeface="DM Sans"/>
                <a:sym typeface="DM Sans"/>
              </a:rPr>
              <a:t>NovaBank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65900" y="476250"/>
            <a:ext cx="1119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Final </a:t>
            </a:r>
            <a:r>
              <a:rPr b="1" lang="en-US" sz="3300">
                <a:solidFill>
                  <a:srgbClr val="0D324D"/>
                </a:solidFill>
                <a:latin typeface="Urbanist"/>
                <a:ea typeface="Urbanist"/>
                <a:cs typeface="Urbanist"/>
                <a:sym typeface="Urbanist"/>
              </a:rPr>
              <a:t>Recommendation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666750" y="476250"/>
            <a:ext cx="76200" cy="504900"/>
          </a:xfrm>
          <a:prstGeom prst="rect">
            <a:avLst/>
          </a:prstGeom>
          <a:solidFill>
            <a:srgbClr val="26B8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66750" y="1466300"/>
            <a:ext cx="10676700" cy="45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Adopt a "Premium Travel" Identity:</a:t>
            </a:r>
            <a:r>
              <a:rPr lang="en-US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Pivot marketing toward the "Global Citizen" persona. 83% of revenue is international, so aligning branding with this actual behavior will drive higher acquisition.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Eliminate FX Fees:</a:t>
            </a:r>
            <a:r>
              <a:rPr lang="en-US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Remove foreign transaction fees to lock in our dominant 83% international share. This removes the primary friction point for high-value travelers, ensuring NovaPass remains "top-of-wallet" abroad.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 3/2/1 Reward Tiers:</a:t>
            </a:r>
            <a:r>
              <a:rPr lang="en-US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Move to a tiered structure (3x Travel, 2x Daily Habits, 1x Base). This protects profit margins by capping rewards on small swipes while incentivizing the high-ticket spend that drives 79% of revenue.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